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Proxima Nova"/>
      <p:regular r:id="rId33"/>
      <p:bold r:id="rId34"/>
      <p:italic r:id="rId35"/>
      <p:boldItalic r:id="rId36"/>
    </p:embeddedFont>
    <p:embeddedFont>
      <p:font typeface="Alfa Slab One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.fntdata"/><Relationship Id="rId15" Type="http://schemas.openxmlformats.org/officeDocument/2006/relationships/slide" Target="slides/slide10.xml"/><Relationship Id="rId37" Type="http://schemas.openxmlformats.org/officeDocument/2006/relationships/font" Target="fonts/AlfaSlabOne-regular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1f15f79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1f15f79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1f15f79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1f15f79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1f15f799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1f15f799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1f15f79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1f15f79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f15f799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1f15f799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f15f799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1f15f799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f15f799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1f15f799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f15f799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f15f799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f15f799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1f15f799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1f15f799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1f15f799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1f15f799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1f15f799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1f15f799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1f15f799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1f15f799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1f15f799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1f15f799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1f15f799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1f15f799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1f15f799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1f15f799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1f15f799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1f15f799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1f15f799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1f15f799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1f15f799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1f15f799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1f15f799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1f15f799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1f15f799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1f15f799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1f15f799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1f15f799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1f15f799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1f15f799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1f15f799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1f15f799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1f15f799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1f15f799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1f15f799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1f15f799d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1f15f799d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provguard.onrender.com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744575"/>
            <a:ext cx="8520600" cy="11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i="1" lang="en" sz="2990">
                <a:latin typeface="Times New Roman"/>
                <a:ea typeface="Times New Roman"/>
                <a:cs typeface="Times New Roman"/>
                <a:sym typeface="Times New Roman"/>
              </a:rPr>
              <a:t>Digital Provenance and Preemptive Cybersecurity</a:t>
            </a:r>
            <a:endParaRPr sz="65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Times New Roman"/>
                <a:ea typeface="Times New Roman"/>
                <a:cs typeface="Times New Roman"/>
                <a:sym typeface="Times New Roman"/>
              </a:rPr>
              <a:t>IYUNDHU KENNEDY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Times New Roman"/>
                <a:ea typeface="Times New Roman"/>
                <a:cs typeface="Times New Roman"/>
                <a:sym typeface="Times New Roman"/>
              </a:rPr>
              <a:t>NSUBUGA JEREMIAH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Times New Roman"/>
                <a:ea typeface="Times New Roman"/>
                <a:cs typeface="Times New Roman"/>
                <a:sym typeface="Times New Roman"/>
              </a:rPr>
              <a:t>MENU</a:t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832300" cy="37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digital provence and preemptive cybersecurity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terminologies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and local relevance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world applications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Prototype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DIGITAL PROVENANCE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354275"/>
            <a:ext cx="8662200" cy="30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Provenance is derived  proving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Originally used in art,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museums and archaeology.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Tracking the complete lifecycle and history of digital information.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did this come from? Who made it? Has anyone changed it? Can I trust it?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WHY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DIGITAL PROVENANCE?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internet has a 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problem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can generate fake videos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Documents can be edited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eep fakes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everywhere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screenshots can be manipulated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misinformation spreads quickly.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latin typeface="Times New Roman"/>
                <a:ea typeface="Times New Roman"/>
                <a:cs typeface="Times New Roman"/>
                <a:sym typeface="Times New Roman"/>
              </a:rPr>
              <a:t>Main Goals of Digital Provenance </a:t>
            </a:r>
            <a:endParaRPr b="1" sz="2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Authenticity 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 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Traceability 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Accountability 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49450" y="137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n" sz="2370">
                <a:latin typeface="Times New Roman"/>
                <a:ea typeface="Times New Roman"/>
                <a:cs typeface="Times New Roman"/>
                <a:sym typeface="Times New Roman"/>
              </a:rPr>
              <a:t>Authenticity </a:t>
            </a:r>
            <a:endParaRPr b="1" sz="1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710050"/>
            <a:ext cx="8520600" cy="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Proves something is genuine.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244200" y="127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n" sz="2370">
                <a:latin typeface="Times New Roman"/>
                <a:ea typeface="Times New Roman"/>
                <a:cs typeface="Times New Roman"/>
                <a:sym typeface="Times New Roman"/>
              </a:rPr>
              <a:t>Integrity</a:t>
            </a:r>
            <a:endParaRPr b="1" sz="1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149450" y="1845175"/>
            <a:ext cx="8520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data has not changed.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149450" y="222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n" sz="2370">
                <a:latin typeface="Times New Roman"/>
                <a:ea typeface="Times New Roman"/>
                <a:cs typeface="Times New Roman"/>
                <a:sym typeface="Times New Roman"/>
              </a:rPr>
              <a:t>Traceability</a:t>
            </a:r>
            <a:endParaRPr b="1" sz="1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82075" y="3007525"/>
            <a:ext cx="8520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where data has been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149450" y="3435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en" sz="2370">
                <a:latin typeface="Times New Roman"/>
                <a:ea typeface="Times New Roman"/>
                <a:cs typeface="Times New Roman"/>
                <a:sym typeface="Times New Roman"/>
              </a:rPr>
              <a:t>Accountability</a:t>
            </a:r>
            <a:endParaRPr b="1" sz="1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149450" y="4169875"/>
            <a:ext cx="8520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can be held responsible.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Key components of digital provenance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600500"/>
            <a:ext cx="85206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❖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❖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Hashing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❖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Signatures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❖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❖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 of Custody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Metadata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161225" y="796825"/>
            <a:ext cx="85206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about data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0" y="201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Digital signature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2477275"/>
            <a:ext cx="85206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signing a paper document,but cryptographically.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161225" y="29085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Blockchain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79150" y="3412850"/>
            <a:ext cx="85206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 cannot easily be altered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354684" y="123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Hashing </a:t>
            </a: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34800" y="1629300"/>
            <a:ext cx="85206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digital fingerprint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243300" y="38020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Chain of Custody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161225" y="4306350"/>
            <a:ext cx="85206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who handled evidence,when,where,and what changed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PREEMPTIVE CYBERSECURITY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422675"/>
            <a:ext cx="85206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Cybersecurity vs Preemptive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 Security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Cyber security is reactive while Preemptive Cyber security is proactive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Preemptive Cyber Security in summary is Identify, predict, and stop threats BEFORE damage occurs.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Why Preemptive Cyber Security Emerged?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cybercrime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devices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attacks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work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transformation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Main Goals of Preemptive Cybersecurity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Threat Prediction</a:t>
            </a:r>
            <a:endParaRPr b="1" sz="19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attacks early.</a:t>
            </a:r>
            <a:endParaRPr sz="16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Early Detection</a:t>
            </a:r>
            <a:endParaRPr b="1" sz="19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suspicious behavior immediately.</a:t>
            </a:r>
            <a:endParaRPr sz="16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Risk Reduction</a:t>
            </a:r>
            <a:endParaRPr b="1" sz="19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vulnerabilities before attackers exploit them.</a:t>
            </a:r>
            <a:endParaRPr sz="16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Continuous Monitoring</a:t>
            </a:r>
            <a:endParaRPr b="1" sz="19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watching systems.</a:t>
            </a:r>
            <a:endParaRPr sz="16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9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150475"/>
            <a:ext cx="85206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Key Concepts in Preemptive Cybersecurity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90125"/>
            <a:ext cx="86073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 Intelligence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lnerability Scanning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Trust Architecture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Analytics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Intrusion Prevention Systems (IPS)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Threat Intelligence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4320"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Collecting information about: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hackers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malware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 methods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vulnerabilities.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Vulnerability Scanning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 automatically scan for weaknesses.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outdated software,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passwords,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exposed ports.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Zero Trust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idea: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“Inside the network = trusted.”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Trust says: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“Trust nobody automatically.”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access request must be verified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Behavioral Analytics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Studies patterns of users and systems.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anomalies.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Intrusion Prevention Systems (IPS)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blocks suspicious activity.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old systems that only alerted admins.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Prototype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prototype, ProvGuard, fuses both concepts into a single gateway.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file passes through five stages.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cryptographic hashing creates a unique fingerprint.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provenance engine extracts C2PA metadata and digital signatures.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Third,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threat intelligence engine queries VirusTotal.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Fourth,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behavioral analysis runs entropy and heuristic checks for unknown threats.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Fifth,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of this is recorded as a hash-chained ledger — blockchain-style tamper evidence in a single SQLite database, signed with RSA-2048.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output: a verdict — Trusted, Suspicious, or Malicious — before the file is ever opened.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DEMO</a:t>
            </a:r>
            <a:endParaRPr b="1"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hlink"/>
                </a:solidFill>
                <a:hlinkClick r:id="rId3"/>
              </a:rPr>
              <a:t>provguard.onrender.com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400" y="1431450"/>
            <a:ext cx="4694675" cy="32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APPLICATIONS OF THE CONCEPT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152475"/>
            <a:ext cx="8520600" cy="24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Banking and Financial Systems 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Healthcare Systems 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Social Media and News Platforms </a:t>
            </a:r>
            <a:endParaRPr sz="2600">
              <a:solidFill>
                <a:srgbClr val="000000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lang="en" sz="2600">
                <a:solidFill>
                  <a:srgbClr val="000000"/>
                </a:solidFill>
              </a:rPr>
              <a:t>Government and Elections </a:t>
            </a:r>
            <a:endParaRPr sz="2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CHALLENGES 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Char char="●"/>
            </a:pPr>
            <a:r>
              <a:rPr lang="en" sz="3100">
                <a:solidFill>
                  <a:srgbClr val="000000"/>
                </a:solidFill>
              </a:rPr>
              <a:t>Massive Data Volume </a:t>
            </a:r>
            <a:endParaRPr sz="3100">
              <a:solidFill>
                <a:srgbClr val="000000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Char char="●"/>
            </a:pPr>
            <a:r>
              <a:rPr lang="en" sz="3100">
                <a:solidFill>
                  <a:srgbClr val="000000"/>
                </a:solidFill>
              </a:rPr>
              <a:t>System Complexity </a:t>
            </a:r>
            <a:endParaRPr sz="3100">
              <a:solidFill>
                <a:srgbClr val="000000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Char char="●"/>
            </a:pPr>
            <a:r>
              <a:rPr lang="en" sz="3100">
                <a:solidFill>
                  <a:srgbClr val="000000"/>
                </a:solidFill>
              </a:rPr>
              <a:t>AI False Positives </a:t>
            </a:r>
            <a:endParaRPr sz="3100">
              <a:solidFill>
                <a:srgbClr val="000000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Char char="●"/>
            </a:pPr>
            <a:r>
              <a:rPr lang="en" sz="3100">
                <a:solidFill>
                  <a:srgbClr val="000000"/>
                </a:solidFill>
              </a:rPr>
              <a:t>Integration Problems </a:t>
            </a:r>
            <a:endParaRPr sz="3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CHALLENGES 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High Costs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Skills Gap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Maintenance Costs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CHALLENGES 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Char char="●"/>
            </a:pPr>
            <a:r>
              <a:rPr lang="en" sz="2700">
                <a:solidFill>
                  <a:srgbClr val="000000"/>
                </a:solidFill>
              </a:rPr>
              <a:t>AI-Powered Attacks 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Char char="●"/>
            </a:pPr>
            <a:r>
              <a:rPr lang="en" sz="2700">
                <a:solidFill>
                  <a:srgbClr val="000000"/>
                </a:solidFill>
              </a:rPr>
              <a:t>Insider Threats 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Char char="●"/>
            </a:pPr>
            <a:r>
              <a:rPr lang="en" sz="2700">
                <a:solidFill>
                  <a:srgbClr val="000000"/>
                </a:solidFill>
              </a:rPr>
              <a:t>Privacy Concerns </a:t>
            </a:r>
            <a:endParaRPr sz="2700">
              <a:solidFill>
                <a:srgbClr val="000000"/>
              </a:solidFill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Char char="●"/>
            </a:pPr>
            <a:r>
              <a:rPr lang="en" sz="2700">
                <a:solidFill>
                  <a:srgbClr val="000000"/>
                </a:solidFill>
              </a:rPr>
              <a:t>Provenance Tampering </a:t>
            </a:r>
            <a:endParaRPr sz="2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ADOPTION CHALLENGES 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Awareness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Resistance to Change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Infrastructure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 and Regulatory Gaps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solutions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Durable Content Credentials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Anchored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Registries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ZK Disclosure Framework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Quantum Migration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Coalition for Content Provenance and Authenticity (C2PA) in at least one editorial workflow across Ugandan media houses before the next election cycle.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National Information Technology Authority-Uganda (NITA-U) procurement guidelines to require a signed Software Bill of Materials (SBOM) for high-value software contracts.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 a national fraud intelligence working group involving: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money operators,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banks,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telecom providers,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○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cybersecurity agencies</a:t>
            </a:r>
            <a:b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improve cross-operator threat information sharing.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Medium-term Recommendations</a:t>
            </a:r>
            <a:endParaRPr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digital provenance and preemptive cybersecurity into university Computer Science and Information Technology curricula with: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industry-sponsored cybersecurity laboratories,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training environments,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open-source teaching materials.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 Uganda’s national cyber defense by establishing a fully resourced national CERT comparable to regional peer institutions.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Ugandan national AI provenance framework aligned with: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African Union Data Policy Framework,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benchmarked against the European Union Artificial Intelligence Act (EU AI Act).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